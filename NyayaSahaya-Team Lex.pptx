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Inter Tight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587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png"/><Relationship Id="rId15" Type="http://schemas.openxmlformats.org/officeDocument/2006/relationships/image" Target="../media/image4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2.sv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3930848"/>
            <a:ext cx="1520666" cy="373142"/>
          </a:xfrm>
          <a:prstGeom prst="roundRect">
            <a:avLst>
              <a:gd name="adj" fmla="val 38297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12852" y="3990380"/>
            <a:ext cx="128254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SHEBUILDS 2025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4383286"/>
            <a:ext cx="9923621" cy="124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50"/>
              </a:lnSpc>
              <a:buNone/>
            </a:pPr>
            <a:r>
              <a:rPr lang="en-US" sz="780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NyayaSahaya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793790" y="592133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न्यायसहाय — Justice Helper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646211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AI-powered legal guidance, built for every woman in India</a:t>
            </a:r>
            <a:endParaRPr lang="en-US" sz="15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E1AFD6-BB31-0968-B0FC-EA3606AF2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671" y="7236857"/>
            <a:ext cx="6643729" cy="9927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68628" y="657463"/>
            <a:ext cx="1169432" cy="305038"/>
          </a:xfrm>
          <a:prstGeom prst="roundRect">
            <a:avLst>
              <a:gd name="adj" fmla="val 40259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270903" y="708541"/>
            <a:ext cx="964883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168628" y="1021080"/>
            <a:ext cx="7628692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Justice Is Out of Reach for Most Women</a:t>
            </a:r>
            <a:endParaRPr lang="en-US" sz="3350" dirty="0"/>
          </a:p>
        </p:txBody>
      </p:sp>
      <p:sp>
        <p:nvSpPr>
          <p:cNvPr id="6" name="Shape 3"/>
          <p:cNvSpPr/>
          <p:nvPr/>
        </p:nvSpPr>
        <p:spPr>
          <a:xfrm>
            <a:off x="6168628" y="1816418"/>
            <a:ext cx="7779544" cy="12740"/>
          </a:xfrm>
          <a:prstGeom prst="rect">
            <a:avLst/>
          </a:prstGeom>
          <a:solidFill>
            <a:srgbClr val="5C606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168628" y="2036564"/>
            <a:ext cx="7779544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 India, legal help isn't just expensive — it's invisible to millions of women who need it most.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68628" y="2455069"/>
            <a:ext cx="7779544" cy="1248489"/>
          </a:xfrm>
          <a:prstGeom prst="roundRect">
            <a:avLst>
              <a:gd name="adj" fmla="val 8789"/>
            </a:avLst>
          </a:prstGeom>
          <a:solidFill>
            <a:srgbClr val="FFFFFF"/>
          </a:solidFill>
          <a:ln w="22860">
            <a:solidFill>
              <a:srgbClr val="5D3A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145768" y="2455069"/>
            <a:ext cx="91440" cy="1248489"/>
          </a:xfrm>
          <a:prstGeom prst="roundRect">
            <a:avLst>
              <a:gd name="adj" fmla="val 167878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30566" y="2648426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Financial Barrier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430566" y="3002756"/>
            <a:ext cx="7324249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Legal consultation fees are unaffordable for a vast majority of women, especially in rural and semi-urban India.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68628" y="3850124"/>
            <a:ext cx="7779544" cy="1248489"/>
          </a:xfrm>
          <a:prstGeom prst="roundRect">
            <a:avLst>
              <a:gd name="adj" fmla="val 8789"/>
            </a:avLst>
          </a:prstGeom>
          <a:solidFill>
            <a:srgbClr val="FFFFFF"/>
          </a:solidFill>
          <a:ln w="22860">
            <a:solidFill>
              <a:srgbClr val="5D3A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145768" y="3850124"/>
            <a:ext cx="91440" cy="1248489"/>
          </a:xfrm>
          <a:prstGeom prst="roundRect">
            <a:avLst>
              <a:gd name="adj" fmla="val 167878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30566" y="4043482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Geographic Barrier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430566" y="4397812"/>
            <a:ext cx="7324249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Lawyers and legal aid centers are concentrated in cities — over </a:t>
            </a:r>
            <a:r>
              <a:rPr lang="en-US" sz="1300" b="1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70% of India's population lives in areas with little to no legal access.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68628" y="5245179"/>
            <a:ext cx="7779544" cy="1248489"/>
          </a:xfrm>
          <a:prstGeom prst="roundRect">
            <a:avLst>
              <a:gd name="adj" fmla="val 8789"/>
            </a:avLst>
          </a:prstGeom>
          <a:solidFill>
            <a:srgbClr val="FFFFFF"/>
          </a:solidFill>
          <a:ln w="22860">
            <a:solidFill>
              <a:srgbClr val="5D3A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145768" y="5245179"/>
            <a:ext cx="91440" cy="1248489"/>
          </a:xfrm>
          <a:prstGeom prst="roundRect">
            <a:avLst>
              <a:gd name="adj" fmla="val 167878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430566" y="5438537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Awareness Barrier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6430566" y="5792867"/>
            <a:ext cx="7324249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 victims don't know which laws protect them </a:t>
            </a:r>
            <a:r>
              <a:rPr lang="en-US" sz="1300" i="1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</a:t>
            </a:r>
            <a:r>
              <a:rPr lang="en-US" sz="13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they can consult a lawyer. Legal language is dense and intimidating.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68628" y="6658451"/>
            <a:ext cx="7779544" cy="913686"/>
          </a:xfrm>
          <a:prstGeom prst="roundRect">
            <a:avLst>
              <a:gd name="adj" fmla="val 16801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126" y="6905268"/>
            <a:ext cx="213122" cy="17049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22745" y="6847642"/>
            <a:ext cx="7054929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Only 1 in 10 women who experience domestic violence in India ever seek help from legal or police sources.</a:t>
            </a: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justice gap is not a courtroom problem — it's an access problem.</a:t>
            </a:r>
            <a:endParaRPr lang="en-US" sz="13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092664C-D282-1E9C-8637-FCE940612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7263" y="7736920"/>
            <a:ext cx="3963137" cy="5921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86276"/>
            <a:ext cx="781526" cy="255984"/>
          </a:xfrm>
          <a:prstGeom prst="roundRect">
            <a:avLst>
              <a:gd name="adj" fmla="val 41868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83087" y="730925"/>
            <a:ext cx="60293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3790" y="986909"/>
            <a:ext cx="3801785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What is NyayaSahaya?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93790" y="1619488"/>
            <a:ext cx="130428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NyayaSahaya</a:t>
            </a: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</a:t>
            </a:r>
            <a:r>
              <a:rPr lang="en-US" sz="1150" i="1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न्यायसहाय</a:t>
            </a: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means </a:t>
            </a:r>
            <a:r>
              <a:rPr lang="en-US" sz="1150" b="1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"Justice Helper"</a:t>
            </a: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an AI-powered web platform that delivers structured legal guidance tailored specifically to women in India.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53339"/>
            <a:ext cx="6521410" cy="5953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2618" y="2660213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Upload Your Case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42618" y="2959656"/>
            <a:ext cx="622375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Describe your situation in your own words or upload a document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953339"/>
            <a:ext cx="6521410" cy="5953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64028" y="2660213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Multi-Expert Analysis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464028" y="2959656"/>
            <a:ext cx="622375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 specialist AI agents analyze your case from every angle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316843"/>
            <a:ext cx="6521410" cy="5953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2618" y="4023717"/>
            <a:ext cx="198203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Understand Your Rights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42618" y="4323159"/>
            <a:ext cx="622375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 plain-language insights on laws that protect you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316843"/>
            <a:ext cx="6521410" cy="5953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64028" y="4023717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Take Action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7464028" y="4323159"/>
            <a:ext cx="622375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Draft documents, find legal aid, and move forward with confidence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793790" y="4847749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8 Powerful Modules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793790" y="5247680"/>
            <a:ext cx="3176945" cy="1095851"/>
          </a:xfrm>
          <a:prstGeom prst="roundRect">
            <a:avLst>
              <a:gd name="adj" fmla="val 12225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942618" y="5396508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371" y="5519261"/>
            <a:ext cx="200858" cy="20085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2618" y="5954554"/>
            <a:ext cx="2133957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Case Analysis Dashboard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4082296" y="5247680"/>
            <a:ext cx="3177064" cy="1095851"/>
          </a:xfrm>
          <a:prstGeom prst="roundRect">
            <a:avLst>
              <a:gd name="adj" fmla="val 12225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4231124" y="5396508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866BC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53878" y="5519261"/>
            <a:ext cx="200858" cy="20085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231124" y="5954554"/>
            <a:ext cx="2085261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Deploy Expert Agents </a:t>
            </a:r>
            <a:r>
              <a:rPr lang="en-US" sz="1450" dirty="0">
                <a:solidFill>
                  <a:srgbClr val="000000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⭐</a:t>
            </a:r>
            <a:endParaRPr lang="en-US" sz="1450" dirty="0"/>
          </a:p>
        </p:txBody>
      </p:sp>
      <p:sp>
        <p:nvSpPr>
          <p:cNvPr id="27" name="Shape 19"/>
          <p:cNvSpPr/>
          <p:nvPr/>
        </p:nvSpPr>
        <p:spPr>
          <a:xfrm>
            <a:off x="7370921" y="5247680"/>
            <a:ext cx="3177064" cy="1095851"/>
          </a:xfrm>
          <a:prstGeom prst="roundRect">
            <a:avLst>
              <a:gd name="adj" fmla="val 12225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0"/>
          <p:cNvSpPr/>
          <p:nvPr/>
        </p:nvSpPr>
        <p:spPr>
          <a:xfrm>
            <a:off x="7519749" y="5396508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5C606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42503" y="5519261"/>
            <a:ext cx="200858" cy="20085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519749" y="5954554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Document Translator</a:t>
            </a:r>
            <a:endParaRPr lang="en-US" sz="1450" dirty="0"/>
          </a:p>
        </p:txBody>
      </p:sp>
      <p:sp>
        <p:nvSpPr>
          <p:cNvPr id="31" name="Shape 22"/>
          <p:cNvSpPr/>
          <p:nvPr/>
        </p:nvSpPr>
        <p:spPr>
          <a:xfrm>
            <a:off x="10659547" y="5247680"/>
            <a:ext cx="3177064" cy="1095851"/>
          </a:xfrm>
          <a:prstGeom prst="roundRect">
            <a:avLst>
              <a:gd name="adj" fmla="val 12225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3"/>
          <p:cNvSpPr/>
          <p:nvPr/>
        </p:nvSpPr>
        <p:spPr>
          <a:xfrm>
            <a:off x="10808375" y="5396508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74797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31128" y="5519261"/>
            <a:ext cx="200858" cy="20085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08375" y="5954554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AI Chat</a:t>
            </a:r>
            <a:endParaRPr lang="en-US" sz="1450" dirty="0"/>
          </a:p>
        </p:txBody>
      </p:sp>
      <p:sp>
        <p:nvSpPr>
          <p:cNvPr id="35" name="Shape 25"/>
          <p:cNvSpPr/>
          <p:nvPr/>
        </p:nvSpPr>
        <p:spPr>
          <a:xfrm>
            <a:off x="793790" y="6455093"/>
            <a:ext cx="3176945" cy="1088231"/>
          </a:xfrm>
          <a:prstGeom prst="roundRect">
            <a:avLst>
              <a:gd name="adj" fmla="val 12311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26"/>
          <p:cNvSpPr/>
          <p:nvPr/>
        </p:nvSpPr>
        <p:spPr>
          <a:xfrm>
            <a:off x="942618" y="6603921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5371" y="6726674"/>
            <a:ext cx="200858" cy="20085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42618" y="7161967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Legal Draft Generator</a:t>
            </a:r>
            <a:endParaRPr lang="en-US" sz="1450" dirty="0"/>
          </a:p>
        </p:txBody>
      </p:sp>
      <p:sp>
        <p:nvSpPr>
          <p:cNvPr id="39" name="Shape 28"/>
          <p:cNvSpPr/>
          <p:nvPr/>
        </p:nvSpPr>
        <p:spPr>
          <a:xfrm>
            <a:off x="4082296" y="6455093"/>
            <a:ext cx="3177064" cy="1088231"/>
          </a:xfrm>
          <a:prstGeom prst="roundRect">
            <a:avLst>
              <a:gd name="adj" fmla="val 12311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29"/>
          <p:cNvSpPr/>
          <p:nvPr/>
        </p:nvSpPr>
        <p:spPr>
          <a:xfrm>
            <a:off x="4231124" y="6603921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F7F7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53878" y="6726674"/>
            <a:ext cx="200858" cy="20085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4231124" y="7161967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Know Your Rights</a:t>
            </a:r>
            <a:endParaRPr lang="en-US" sz="1450" dirty="0"/>
          </a:p>
        </p:txBody>
      </p:sp>
      <p:sp>
        <p:nvSpPr>
          <p:cNvPr id="43" name="Shape 31"/>
          <p:cNvSpPr/>
          <p:nvPr/>
        </p:nvSpPr>
        <p:spPr>
          <a:xfrm>
            <a:off x="7370921" y="6455093"/>
            <a:ext cx="3177064" cy="1088231"/>
          </a:xfrm>
          <a:prstGeom prst="roundRect">
            <a:avLst>
              <a:gd name="adj" fmla="val 12311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32"/>
          <p:cNvSpPr/>
          <p:nvPr/>
        </p:nvSpPr>
        <p:spPr>
          <a:xfrm>
            <a:off x="7519749" y="6603921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1C1B2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42503" y="6726674"/>
            <a:ext cx="200858" cy="200858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519749" y="7161967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Legal Myths Buster</a:t>
            </a:r>
            <a:endParaRPr lang="en-US" sz="1450" dirty="0"/>
          </a:p>
        </p:txBody>
      </p:sp>
      <p:sp>
        <p:nvSpPr>
          <p:cNvPr id="47" name="Shape 34"/>
          <p:cNvSpPr/>
          <p:nvPr/>
        </p:nvSpPr>
        <p:spPr>
          <a:xfrm>
            <a:off x="10659547" y="6455093"/>
            <a:ext cx="3177064" cy="1088231"/>
          </a:xfrm>
          <a:prstGeom prst="roundRect">
            <a:avLst>
              <a:gd name="adj" fmla="val 12311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35"/>
          <p:cNvSpPr/>
          <p:nvPr/>
        </p:nvSpPr>
        <p:spPr>
          <a:xfrm>
            <a:off x="10808375" y="6603921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931128" y="6726674"/>
            <a:ext cx="200858" cy="200858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10808375" y="7161967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Legal Aid Directory</a:t>
            </a:r>
            <a:endParaRPr lang="en-US" sz="14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D52C752-F21B-236F-17F6-F45711DC072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59547" y="7803713"/>
            <a:ext cx="3984010" cy="5953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897" y="662107"/>
            <a:ext cx="1260277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81407" y="996791"/>
            <a:ext cx="4878110" cy="549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The Multi-Agent Pipeline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781407" y="1779865"/>
            <a:ext cx="7581186" cy="795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Legal cases are multi-dimensional. A financial constraint, a psychological trauma, and a human rights violation can all exist in the </a:t>
            </a:r>
            <a:r>
              <a:rPr lang="en-US" sz="1350" i="1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same</a:t>
            </a:r>
            <a:r>
              <a:rPr lang="en-US" sz="13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case. One expert isn't enough — so we built six.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81407" y="2750820"/>
            <a:ext cx="2423160" cy="1524833"/>
          </a:xfrm>
          <a:prstGeom prst="roundRect">
            <a:avLst>
              <a:gd name="adj" fmla="val 10378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57143" y="2926556"/>
            <a:ext cx="207168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⚖️</a:t>
            </a:r>
            <a:r>
              <a:rPr lang="en-US" sz="170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 Legal Agent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57143" y="3294697"/>
            <a:ext cx="2071688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Applicable statutes &amp; IPC sections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360301" y="2750820"/>
            <a:ext cx="2423279" cy="1524833"/>
          </a:xfrm>
          <a:prstGeom prst="roundRect">
            <a:avLst>
              <a:gd name="adj" fmla="val 10378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536037" y="2926556"/>
            <a:ext cx="2071807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💰</a:t>
            </a:r>
            <a:r>
              <a:rPr lang="en-US" sz="170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 Financial Agent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536037" y="3294697"/>
            <a:ext cx="2071807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Compensation &amp; economic remedies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939314" y="2750820"/>
            <a:ext cx="2423160" cy="1524833"/>
          </a:xfrm>
          <a:prstGeom prst="roundRect">
            <a:avLst>
              <a:gd name="adj" fmla="val 10378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115050" y="2926556"/>
            <a:ext cx="2071688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🧠</a:t>
            </a:r>
            <a:r>
              <a:rPr lang="en-US" sz="170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 Psychology Agent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15050" y="3569375"/>
            <a:ext cx="2071688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Emotional impact &amp; mental health resources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81407" y="4431387"/>
            <a:ext cx="2423160" cy="1790105"/>
          </a:xfrm>
          <a:prstGeom prst="roundRect">
            <a:avLst>
              <a:gd name="adj" fmla="val 8840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57143" y="4607123"/>
            <a:ext cx="207168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🤝</a:t>
            </a:r>
            <a:r>
              <a:rPr lang="en-US" sz="170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 Social Agent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57143" y="4975265"/>
            <a:ext cx="2071688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Community support &amp; social dynamics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3360301" y="4431387"/>
            <a:ext cx="2423279" cy="1790105"/>
          </a:xfrm>
          <a:prstGeom prst="roundRect">
            <a:avLst>
              <a:gd name="adj" fmla="val 8840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3536037" y="4607123"/>
            <a:ext cx="2071807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🌍</a:t>
            </a:r>
            <a:r>
              <a:rPr lang="en-US" sz="170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 Human Rights Agent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536037" y="5249942"/>
            <a:ext cx="2071807" cy="795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International &amp; constitutional rights frameworks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39314" y="4431387"/>
            <a:ext cx="2423160" cy="1790105"/>
          </a:xfrm>
          <a:prstGeom prst="roundRect">
            <a:avLst>
              <a:gd name="adj" fmla="val 8840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115050" y="4607123"/>
            <a:ext cx="207168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📋</a:t>
            </a:r>
            <a:r>
              <a:rPr lang="en-US" sz="170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 Procedural Agent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115050" y="4975265"/>
            <a:ext cx="2071688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Step-by-step legal process guidance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781407" y="6396633"/>
            <a:ext cx="7581186" cy="1223486"/>
          </a:xfrm>
          <a:prstGeom prst="roundRect">
            <a:avLst>
              <a:gd name="adj" fmla="val 1293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143" y="6652974"/>
            <a:ext cx="219789" cy="17573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352669" y="6596301"/>
            <a:ext cx="6834188" cy="795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6 agents?</a:t>
            </a: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Each brings a different lens. Together, they debate, cross-validate, and synthesize insights — reducing blind spots that a single AI (or lawyer) might miss.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45927"/>
            <a:ext cx="1088827" cy="255984"/>
          </a:xfrm>
          <a:prstGeom prst="roundRect">
            <a:avLst>
              <a:gd name="adj" fmla="val 41868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83087" y="790575"/>
            <a:ext cx="91023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3790" y="1046559"/>
            <a:ext cx="4053364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The 5-Stage Agent Flow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475" y="1679138"/>
            <a:ext cx="9701451" cy="41834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17272" y="5069290"/>
            <a:ext cx="2200937" cy="27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Agent Debate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117272" y="4100877"/>
            <a:ext cx="2200937" cy="27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Knowledge Graph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117272" y="3142246"/>
            <a:ext cx="2200937" cy="27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Agent Analysis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117272" y="2173834"/>
            <a:ext cx="2200937" cy="27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Case Input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3790" y="5988129"/>
            <a:ext cx="13042821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</a:t>
            </a:r>
            <a:r>
              <a:rPr lang="en-US" sz="1150" b="1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 Debate</a:t>
            </a: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stage is what sets NyayaSahaya apart — agents actively challenge each other's conclusions, flagging contradictions and building consensus only where the evidence supports it. This cross-validation dramatically reduces LLM hallucination risk.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3790" y="6530340"/>
            <a:ext cx="4273153" cy="953214"/>
          </a:xfrm>
          <a:prstGeom prst="roundRect">
            <a:avLst>
              <a:gd name="adj" fmla="val 7674"/>
            </a:avLst>
          </a:prstGeom>
          <a:solidFill>
            <a:srgbClr val="FFFFFF"/>
          </a:solidFill>
          <a:ln w="15240">
            <a:solidFill>
              <a:srgbClr val="5D3A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78550" y="6530340"/>
            <a:ext cx="60960" cy="953214"/>
          </a:xfrm>
          <a:prstGeom prst="roundRect">
            <a:avLst>
              <a:gd name="adj" fmla="val 219768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003578" y="6694408"/>
            <a:ext cx="3899297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Knowledge Graph</a:t>
            </a: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maps relationships between legal provisions, precedents, and case facts as interconnected nodes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178504" y="6530340"/>
            <a:ext cx="4273272" cy="953214"/>
          </a:xfrm>
          <a:prstGeom prst="roundRect">
            <a:avLst>
              <a:gd name="adj" fmla="val 7674"/>
            </a:avLst>
          </a:prstGeom>
          <a:solidFill>
            <a:srgbClr val="FFFFFF"/>
          </a:solidFill>
          <a:ln w="15240">
            <a:solidFill>
              <a:srgbClr val="5D3A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163264" y="6530340"/>
            <a:ext cx="60960" cy="953214"/>
          </a:xfrm>
          <a:prstGeom prst="roundRect">
            <a:avLst>
              <a:gd name="adj" fmla="val 219768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388293" y="6694408"/>
            <a:ext cx="3899416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Conflict Edges</a:t>
            </a: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disagreements between agents are surfaced explicitly, not hidden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563338" y="6530340"/>
            <a:ext cx="4273153" cy="953214"/>
          </a:xfrm>
          <a:prstGeom prst="roundRect">
            <a:avLst>
              <a:gd name="adj" fmla="val 7674"/>
            </a:avLst>
          </a:prstGeom>
          <a:solidFill>
            <a:srgbClr val="FFFFFF"/>
          </a:solidFill>
          <a:ln w="15240">
            <a:solidFill>
              <a:srgbClr val="5D3A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9548098" y="6530340"/>
            <a:ext cx="60960" cy="953214"/>
          </a:xfrm>
          <a:prstGeom prst="roundRect">
            <a:avLst>
              <a:gd name="adj" fmla="val 219768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9773126" y="6694408"/>
            <a:ext cx="3899297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Agreement Edges</a:t>
            </a: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where agents converge, confidence in the recommendation increases</a:t>
            </a:r>
            <a:endParaRPr lang="en-US" sz="11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60C158B-D64B-C51F-8107-2E22AAB8E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9495" y="7748918"/>
            <a:ext cx="4410905" cy="6591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407" y="612577"/>
            <a:ext cx="1022628" cy="365284"/>
          </a:xfrm>
          <a:prstGeom prst="roundRect">
            <a:avLst>
              <a:gd name="adj" fmla="val 38509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98565" y="671155"/>
            <a:ext cx="788313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1407" y="1054775"/>
            <a:ext cx="10742771" cy="61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Case Analysis Dashboard &amp; Document Translator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794" y="1953578"/>
            <a:ext cx="6576774" cy="5663327"/>
          </a:xfrm>
          <a:prstGeom prst="roundRect">
            <a:avLst>
              <a:gd name="adj" fmla="val 4968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36057" y="2145863"/>
            <a:ext cx="315610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📊</a:t>
            </a:r>
            <a:r>
              <a:rPr lang="en-US" sz="190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 Case Analysis Dashboard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36057" y="2643307"/>
            <a:ext cx="618624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structured 8-tab breakdown that turns a raw case description into actionable intelligence: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6057" y="3436620"/>
            <a:ext cx="6186249" cy="2952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Upload</a:t>
            </a:r>
            <a:r>
              <a:rPr lang="en-US" sz="15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case intake &amp; document parsing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Overview</a:t>
            </a:r>
            <a:r>
              <a:rPr lang="en-US" sz="15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plain-language summary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Risk Scoring</a:t>
            </a:r>
            <a:r>
              <a:rPr lang="en-US" sz="15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severity &amp; urgency assessment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Case Strength</a:t>
            </a:r>
            <a:r>
              <a:rPr lang="en-US" sz="15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evidentiary analysis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Precedents</a:t>
            </a:r>
            <a:r>
              <a:rPr lang="en-US" sz="15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relevant court judgments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Timeline</a:t>
            </a:r>
            <a:r>
              <a:rPr lang="en-US" sz="15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court-specific process timelines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Legal Help</a:t>
            </a:r>
            <a:r>
              <a:rPr lang="en-US" sz="15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NALSA integration &amp; aid referrals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Evidence</a:t>
            </a:r>
            <a:r>
              <a:rPr lang="en-US" sz="15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what to collect &amp; preserve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61064" y="2145863"/>
            <a:ext cx="266961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🌐</a:t>
            </a:r>
            <a:r>
              <a:rPr lang="en-US" sz="190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 Document Translator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561064" y="2643307"/>
            <a:ext cx="62955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Legal documents shouldn't be locked behind language barriers.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561064" y="3169801"/>
            <a:ext cx="3051572" cy="2484477"/>
          </a:xfrm>
          <a:prstGeom prst="roundRect">
            <a:avLst>
              <a:gd name="adj" fmla="val 7077"/>
            </a:avLst>
          </a:prstGeom>
          <a:solidFill>
            <a:srgbClr val="FFFFFF"/>
          </a:solidFill>
          <a:ln w="22860">
            <a:solidFill>
              <a:srgbClr val="5D3A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9187" y="3387923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12 Indian Languages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79187" y="3885367"/>
            <a:ext cx="2615327" cy="155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Hindi, Tamil, Telugu, Bengali, Marathi, Gujarati, and more — making legal content accessible to any Indian woman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804922" y="3169801"/>
            <a:ext cx="3051691" cy="2484477"/>
          </a:xfrm>
          <a:prstGeom prst="roundRect">
            <a:avLst>
              <a:gd name="adj" fmla="val 7077"/>
            </a:avLst>
          </a:prstGeom>
          <a:solidFill>
            <a:srgbClr val="FFFFFF"/>
          </a:solidFill>
          <a:ln w="22860">
            <a:solidFill>
              <a:srgbClr val="866B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023044" y="3387923"/>
            <a:ext cx="2615446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Plain-Language Summaries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023044" y="4190524"/>
            <a:ext cx="2615446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Upload a PDF legal notice or FIR — get a clear, jargon-free explanation in your language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561064" y="5846564"/>
            <a:ext cx="6295549" cy="1554004"/>
          </a:xfrm>
          <a:prstGeom prst="roundRect">
            <a:avLst>
              <a:gd name="adj" fmla="val 11315"/>
            </a:avLst>
          </a:prstGeom>
          <a:solidFill>
            <a:srgbClr val="FFFFFF"/>
          </a:solidFill>
          <a:ln w="22860">
            <a:solidFill>
              <a:srgbClr val="5C60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9187" y="6064687"/>
            <a:ext cx="2655927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Legal Term Preservation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779187" y="6562130"/>
            <a:ext cx="585930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Critical terms like </a:t>
            </a:r>
            <a:r>
              <a:rPr lang="en-US" sz="1500" b="1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Section 498A</a:t>
            </a:r>
            <a:r>
              <a:rPr lang="en-US" sz="15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 </a:t>
            </a:r>
            <a:r>
              <a:rPr lang="en-US" sz="1500" b="1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POCSO</a:t>
            </a:r>
            <a:r>
              <a:rPr lang="en-US" sz="15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are preserved intact — never mistranslated</a:t>
            </a:r>
            <a:endParaRPr lang="en-US" sz="15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2E8955B-2D03-A8CA-DA8C-7F097F2D1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1396" y="7591296"/>
            <a:ext cx="5659004" cy="845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52926"/>
            <a:ext cx="919282" cy="278130"/>
          </a:xfrm>
          <a:prstGeom prst="roundRect">
            <a:avLst>
              <a:gd name="adj" fmla="val 41103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89040" y="600551"/>
            <a:ext cx="7287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3790" y="881777"/>
            <a:ext cx="461867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Tech Stack &amp; Architecture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93790" y="169533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Stack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2086213"/>
            <a:ext cx="6327815" cy="1411129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22860">
            <a:solidFill>
              <a:srgbClr val="5D3A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16650" y="2109073"/>
            <a:ext cx="6282095" cy="476250"/>
          </a:xfrm>
          <a:prstGeom prst="roundRect">
            <a:avLst>
              <a:gd name="adj" fmla="val 24246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8575" y="2228136"/>
            <a:ext cx="238125" cy="238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5360" y="271224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Frontend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75360" y="3087172"/>
            <a:ext cx="59646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Vite + Vanilla JS — fast, lightweight, no framework overhead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93790" y="3624263"/>
            <a:ext cx="6327815" cy="1411129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22860">
            <a:solidFill>
              <a:srgbClr val="866B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16650" y="3647122"/>
            <a:ext cx="6282095" cy="476250"/>
          </a:xfrm>
          <a:prstGeom prst="roundRect">
            <a:avLst>
              <a:gd name="adj" fmla="val 24246"/>
            </a:avLst>
          </a:prstGeom>
          <a:solidFill>
            <a:srgbClr val="866BC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8575" y="3766185"/>
            <a:ext cx="238125" cy="238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75360" y="425029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Backend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975360" y="4625221"/>
            <a:ext cx="59646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 + Express + </a:t>
            </a:r>
            <a:r>
              <a:rPr lang="en-US" sz="1250" b="1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SSE</a:t>
            </a:r>
            <a:r>
              <a:rPr lang="en-US" sz="12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real-time streaming of agent results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3790" y="5162312"/>
            <a:ext cx="6327815" cy="1411129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22860">
            <a:solidFill>
              <a:srgbClr val="5C60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16650" y="5185172"/>
            <a:ext cx="6282095" cy="476250"/>
          </a:xfrm>
          <a:prstGeom prst="roundRect">
            <a:avLst>
              <a:gd name="adj" fmla="val 24246"/>
            </a:avLst>
          </a:prstGeom>
          <a:solidFill>
            <a:srgbClr val="5C606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8575" y="5304234"/>
            <a:ext cx="238125" cy="238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75360" y="578834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AI Layer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975360" y="6163270"/>
            <a:ext cx="59646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Groq Cloud + LLaMA 3.3 70B (with 8B fallback for token limits)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93790" y="6716316"/>
            <a:ext cx="6327815" cy="817364"/>
          </a:xfrm>
          <a:prstGeom prst="roundRect">
            <a:avLst>
              <a:gd name="adj" fmla="val 17483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6943368"/>
            <a:ext cx="198358" cy="1587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09568" y="6882884"/>
            <a:ext cx="56533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Groq?</a:t>
            </a:r>
            <a:r>
              <a:rPr lang="en-US" sz="12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10–20× faster inference than standard GPU providers, with a free tier that makes this project viable at zero infrastructure cost.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516416" y="169533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Architecture Flow</a:t>
            </a:r>
            <a:endParaRPr lang="en-US" sz="15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5770" y="2109073"/>
            <a:ext cx="7381278" cy="337788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57258" y="2391026"/>
            <a:ext cx="1119766" cy="139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Groq AI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11857258" y="2570811"/>
            <a:ext cx="1234232" cy="20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LLaMA 3.3 70B, 6 agent calls, 8B fallback</a:t>
            </a:r>
            <a:endParaRPr lang="en-US" sz="700" dirty="0"/>
          </a:p>
        </p:txBody>
      </p:sp>
      <p:sp>
        <p:nvSpPr>
          <p:cNvPr id="28" name="Text 21"/>
          <p:cNvSpPr/>
          <p:nvPr/>
        </p:nvSpPr>
        <p:spPr>
          <a:xfrm>
            <a:off x="8006183" y="3786872"/>
            <a:ext cx="1119766" cy="139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85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Backend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8018838" y="4022593"/>
            <a:ext cx="1134696" cy="20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750"/>
              </a:lnSpc>
              <a:buNone/>
            </a:pPr>
            <a:r>
              <a:rPr lang="en-US" sz="7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 + Express, agent orchestration, SSE</a:t>
            </a:r>
            <a:endParaRPr lang="en-US" sz="700" dirty="0"/>
          </a:p>
        </p:txBody>
      </p:sp>
      <p:sp>
        <p:nvSpPr>
          <p:cNvPr id="30" name="Text 23"/>
          <p:cNvSpPr/>
          <p:nvPr/>
        </p:nvSpPr>
        <p:spPr>
          <a:xfrm>
            <a:off x="12320160" y="4358329"/>
            <a:ext cx="1119766" cy="139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Frontend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2253294" y="4537963"/>
            <a:ext cx="1234232" cy="20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Vite + Vanilla JS, UI, SSE listener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7525671" y="5679743"/>
            <a:ext cx="6327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Results stream back to the user in real-time via </a:t>
            </a:r>
            <a:r>
              <a:rPr lang="en-US" sz="1250" b="1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Server-Sent Events (SSE)</a:t>
            </a:r>
            <a:r>
              <a:rPr lang="en-US" sz="12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each agent's output appears as it completes, not after all six finish.</a:t>
            </a:r>
            <a:endParaRPr lang="en-US" sz="12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57C5F7E-C013-1015-6390-DF1EDF8481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3421" y="7736214"/>
            <a:ext cx="318720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43042" y="870109"/>
            <a:ext cx="1537335" cy="326827"/>
          </a:xfrm>
          <a:prstGeom prst="roundRect">
            <a:avLst>
              <a:gd name="adj" fmla="val 39591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350794" y="923925"/>
            <a:ext cx="132183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TRUST &amp; HONESTY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243042" y="1261943"/>
            <a:ext cx="7564279" cy="561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Privacy, Security &amp; Known Limitations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243042" y="1888450"/>
            <a:ext cx="2246352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🔒</a:t>
            </a:r>
            <a:r>
              <a:rPr lang="en-US" sz="175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 Privacy by Design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43042" y="2420898"/>
            <a:ext cx="2435066" cy="2113836"/>
          </a:xfrm>
          <a:prstGeom prst="roundRect">
            <a:avLst>
              <a:gd name="adj" fmla="val 7652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22708" y="2600563"/>
            <a:ext cx="2075736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No Data Persistence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422708" y="2978944"/>
            <a:ext cx="2075736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Case data lives in browser memory only — never written to disk or database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840748" y="2420898"/>
            <a:ext cx="2435185" cy="2113836"/>
          </a:xfrm>
          <a:prstGeom prst="roundRect">
            <a:avLst>
              <a:gd name="adj" fmla="val 7652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020413" y="2600563"/>
            <a:ext cx="2075855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No Server Storage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020413" y="2978944"/>
            <a:ext cx="207585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user data stored server-side. The backend routes — it never retains.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1438573" y="2420898"/>
            <a:ext cx="2435066" cy="2113836"/>
          </a:xfrm>
          <a:prstGeom prst="roundRect">
            <a:avLst>
              <a:gd name="adj" fmla="val 7652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1618238" y="2600563"/>
            <a:ext cx="2075736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Rate Limiting &amp; CORS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1618238" y="3259693"/>
            <a:ext cx="2075736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API abuse prevention and strict origin restrictions protect the platform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43042" y="4778812"/>
            <a:ext cx="415194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⚠️</a:t>
            </a:r>
            <a:r>
              <a:rPr lang="en-US" sz="175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 Limitations (and how we handle them)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6243042" y="5311259"/>
            <a:ext cx="2435066" cy="2048113"/>
          </a:xfrm>
          <a:prstGeom prst="roundRect">
            <a:avLst>
              <a:gd name="adj" fmla="val 5358"/>
            </a:avLst>
          </a:prstGeom>
          <a:solidFill>
            <a:srgbClr val="FFFFFF"/>
          </a:solidFill>
          <a:ln w="22860">
            <a:solidFill>
              <a:srgbClr val="866B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220182" y="5311259"/>
            <a:ext cx="91440" cy="2048113"/>
          </a:xfrm>
          <a:prstGeom prst="roundRect">
            <a:avLst>
              <a:gd name="adj" fmla="val 176882"/>
            </a:avLst>
          </a:prstGeom>
          <a:solidFill>
            <a:srgbClr val="866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514148" y="5513784"/>
            <a:ext cx="1961436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Groq token limits</a:t>
            </a:r>
            <a:r>
              <a:rPr lang="en-US" sz="14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→ Automatic fallback to LLaMA 3.3 8B model — seamless to the user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840748" y="5311259"/>
            <a:ext cx="2435185" cy="2048113"/>
          </a:xfrm>
          <a:prstGeom prst="roundRect">
            <a:avLst>
              <a:gd name="adj" fmla="val 5358"/>
            </a:avLst>
          </a:prstGeom>
          <a:solidFill>
            <a:srgbClr val="FFFFFF"/>
          </a:solidFill>
          <a:ln w="22860">
            <a:solidFill>
              <a:srgbClr val="866B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8817888" y="5311259"/>
            <a:ext cx="91440" cy="2048113"/>
          </a:xfrm>
          <a:prstGeom prst="roundRect">
            <a:avLst>
              <a:gd name="adj" fmla="val 176882"/>
            </a:avLst>
          </a:prstGeom>
          <a:solidFill>
            <a:srgbClr val="866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9111853" y="5513784"/>
            <a:ext cx="1961555" cy="1369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LLM hallucination risk</a:t>
            </a:r>
            <a:r>
              <a:rPr lang="en-US" sz="14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→ 6 agents cross-validate each other; disagreements are surfaced, not hidden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1438573" y="5311259"/>
            <a:ext cx="2435066" cy="2048113"/>
          </a:xfrm>
          <a:prstGeom prst="roundRect">
            <a:avLst>
              <a:gd name="adj" fmla="val 5358"/>
            </a:avLst>
          </a:prstGeom>
          <a:solidFill>
            <a:srgbClr val="FFFFFF"/>
          </a:solidFill>
          <a:ln w="22860">
            <a:solidFill>
              <a:srgbClr val="866B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11415713" y="5311259"/>
            <a:ext cx="91440" cy="2048113"/>
          </a:xfrm>
          <a:prstGeom prst="roundRect">
            <a:avLst>
              <a:gd name="adj" fmla="val 176882"/>
            </a:avLst>
          </a:prstGeom>
          <a:solidFill>
            <a:srgbClr val="866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11709678" y="5513784"/>
            <a:ext cx="1961436" cy="164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real lawyer database</a:t>
            </a:r>
            <a:r>
              <a:rPr lang="en-US" sz="14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→ Recommends verified platforms (NALSA, DLSA, </a:t>
            </a:r>
            <a:r>
              <a:rPr lang="en-US" sz="1400" dirty="0" err="1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eSewa</a:t>
            </a:r>
            <a:r>
              <a:rPr lang="en-US" sz="14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400" dirty="0" err="1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Kendras</a:t>
            </a:r>
            <a:r>
              <a:rPr lang="en-US" sz="14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instead</a:t>
            </a:r>
            <a:endParaRPr lang="en-US" sz="1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DDDA2BF-69D1-F46F-A8C3-0F921B27A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729" y="7561897"/>
            <a:ext cx="7202408" cy="10762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07338"/>
            <a:ext cx="988457" cy="255984"/>
          </a:xfrm>
          <a:prstGeom prst="roundRect">
            <a:avLst>
              <a:gd name="adj" fmla="val 41868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83087" y="651986"/>
            <a:ext cx="80986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WHAT'S NEXT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3790" y="907971"/>
            <a:ext cx="4257794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Roadmap &amp; Impact Vision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93790" y="1652111"/>
            <a:ext cx="1860590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🗺️</a:t>
            </a:r>
            <a:r>
              <a:rPr lang="en-US" sz="145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 Future Roadmap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036326"/>
            <a:ext cx="148828" cy="1488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3790" y="2255401"/>
            <a:ext cx="6339840" cy="15240"/>
          </a:xfrm>
          <a:prstGeom prst="rect">
            <a:avLst/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93790" y="2360295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Voice Input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93790" y="2704386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Accessibility for low-literacy users — speak your case, don't type it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154442"/>
            <a:ext cx="148828" cy="14882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93790" y="3373517"/>
            <a:ext cx="6339840" cy="15240"/>
          </a:xfrm>
          <a:prstGeom prst="rect">
            <a:avLst/>
          </a:prstGeom>
          <a:solidFill>
            <a:srgbClr val="866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793790" y="347841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WhatsApp Bot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93790" y="3822502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Reach women where they already are — no app download required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272558"/>
            <a:ext cx="148828" cy="14882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93790" y="4491633"/>
            <a:ext cx="6339840" cy="15240"/>
          </a:xfrm>
          <a:prstGeom prst="rect">
            <a:avLst/>
          </a:prstGeom>
          <a:solidFill>
            <a:srgbClr val="5C60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793790" y="4596527"/>
            <a:ext cx="2112764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User Auth + Case History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93790" y="4940618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login and saved case progress for continuity</a:t>
            </a:r>
            <a:endParaRPr lang="en-US" sz="11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390674"/>
            <a:ext cx="148828" cy="14882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93790" y="5609749"/>
            <a:ext cx="6339840" cy="15240"/>
          </a:xfrm>
          <a:prstGeom prst="rect">
            <a:avLst/>
          </a:prstGeom>
          <a:solidFill>
            <a:srgbClr val="7479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4"/>
          <p:cNvSpPr/>
          <p:nvPr/>
        </p:nvSpPr>
        <p:spPr>
          <a:xfrm>
            <a:off x="793790" y="5714643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Real Lawyer Directory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793790" y="6058733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Vetted, affordable legal professionals — searchable by region &amp; language</a:t>
            </a:r>
            <a:endParaRPr lang="en-US" sz="11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6508790"/>
            <a:ext cx="148828" cy="14882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93790" y="6727865"/>
            <a:ext cx="6339840" cy="15240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7"/>
          <p:cNvSpPr/>
          <p:nvPr/>
        </p:nvSpPr>
        <p:spPr>
          <a:xfrm>
            <a:off x="793790" y="6832759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C6065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Multi-Language UI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793790" y="7176849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interface localization — not just document translation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7397234" y="1540550"/>
            <a:ext cx="6554153" cy="6081713"/>
          </a:xfrm>
          <a:prstGeom prst="roundRect">
            <a:avLst>
              <a:gd name="adj" fmla="val 3525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0"/>
          <p:cNvSpPr/>
          <p:nvPr/>
        </p:nvSpPr>
        <p:spPr>
          <a:xfrm>
            <a:off x="7546062" y="1652111"/>
            <a:ext cx="1860590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🌟</a:t>
            </a:r>
            <a:r>
              <a:rPr lang="en-US" sz="14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 Who This Helps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546062" y="2003822"/>
            <a:ext cx="6256496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Any Indian woman — rural or urban, literate or not — who faces a legal crisis without access to a lawyer.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7546062" y="2532102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Scale Potential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7546062" y="2876193"/>
            <a:ext cx="6256496" cy="703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12 Indian languages</a:t>
            </a: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reaches across linguistic barriers</a:t>
            </a:r>
            <a:endParaRPr lang="en-US" sz="115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Any device with a browser</a:t>
            </a: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smartphone is enough</a:t>
            </a:r>
            <a:endParaRPr lang="en-US" sz="115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cost to the user</a:t>
            </a: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free at point of need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7546062" y="3742015"/>
            <a:ext cx="6256496" cy="11073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7769304" y="3915728"/>
            <a:ext cx="603325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Built for SheBuilds — empowering women with accessible legal intelligence.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7546062" y="3915728"/>
            <a:ext cx="15240" cy="208359"/>
          </a:xfrm>
          <a:prstGeom prst="rect">
            <a:avLst/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32DA2C6-AD5C-C7E2-EC12-C8A1C98285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1595" y="7666485"/>
            <a:ext cx="5608805" cy="8380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568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975134"/>
            <a:ext cx="1111806" cy="348377"/>
          </a:xfrm>
          <a:prstGeom prst="roundRect">
            <a:avLst>
              <a:gd name="adj" fmla="val 38968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06899" y="3031688"/>
            <a:ext cx="885587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062651" y="3395067"/>
            <a:ext cx="6504980" cy="813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5100" dirty="0">
                <a:solidFill>
                  <a:srgbClr val="1C1B22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Try NyayaSahaya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793790" y="4476869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Questions, feedback, or want to see a live demo? We'd love to walk you through it.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1792486" y="4997172"/>
            <a:ext cx="4228148" cy="1661636"/>
          </a:xfrm>
          <a:prstGeom prst="roundRect">
            <a:avLst>
              <a:gd name="adj" fmla="val 10213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980962" y="5246489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GitHub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980962" y="5648011"/>
            <a:ext cx="3851196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 code, documentation, and setup guide — open source &amp; open for contributions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925512" y="5028563"/>
            <a:ext cx="4228148" cy="1661636"/>
          </a:xfrm>
          <a:prstGeom prst="roundRect">
            <a:avLst>
              <a:gd name="adj" fmla="val 10213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153981" y="514783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ter Tight Semi Bold" pitchFamily="34" charset="0"/>
                <a:ea typeface="Inter Tight Semi Bold" pitchFamily="34" charset="-122"/>
                <a:cs typeface="Inter Tight Semi Bold" pitchFamily="34" charset="-120"/>
              </a:rPr>
              <a:t>The Team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153981" y="5570525"/>
            <a:ext cx="3851196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Built with purpose for the SheBuilds Hackathon — </a:t>
            </a:r>
            <a:r>
              <a:rPr lang="en-US" sz="1450" i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Justice shouldn't be a privilege.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93790" y="6835616"/>
            <a:ext cx="13042821" cy="775692"/>
          </a:xfrm>
          <a:prstGeom prst="roundRect">
            <a:avLst>
              <a:gd name="adj" fmla="val 2187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66" y="7119461"/>
            <a:ext cx="235625" cy="1884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06366" y="7061716"/>
            <a:ext cx="12241768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NyayaSahaya</a:t>
            </a:r>
            <a:r>
              <a:rPr lang="en-US" sz="1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न्यायसहाय — </a:t>
            </a:r>
            <a:r>
              <a:rPr lang="en-US" sz="1450" i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Justice Helper.</a:t>
            </a:r>
            <a:r>
              <a:rPr lang="en-US" sz="1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Because every woman deserves to know her rights.</a:t>
            </a:r>
            <a:endParaRPr lang="en-US" sz="14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B2F7EB6-34E9-32B0-C88B-CD68E0833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92866" y="7756725"/>
            <a:ext cx="2637534" cy="3941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1104</Words>
  <Application>Microsoft Office PowerPoint</Application>
  <PresentationFormat>Custom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 Tight Semi Bold</vt:lpstr>
      <vt:lpstr>Instrument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Naga Bhavya sree Pedda</cp:lastModifiedBy>
  <cp:revision>2</cp:revision>
  <dcterms:created xsi:type="dcterms:W3CDTF">2026-04-25T12:41:40Z</dcterms:created>
  <dcterms:modified xsi:type="dcterms:W3CDTF">2026-04-25T12:53:18Z</dcterms:modified>
</cp:coreProperties>
</file>